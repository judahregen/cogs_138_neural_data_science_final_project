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2" r:id="rId3"/>
    <p:sldId id="257" r:id="rId4"/>
    <p:sldId id="263" r:id="rId5"/>
    <p:sldId id="258" r:id="rId6"/>
    <p:sldId id="261" r:id="rId7"/>
    <p:sldId id="259" r:id="rId8"/>
    <p:sldId id="265" r:id="rId9"/>
    <p:sldId id="266" r:id="rId10"/>
    <p:sldId id="264" r:id="rId11"/>
    <p:sldId id="26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396890-D874-4AF9-8687-7E7587F88AFE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31FE60-E1B7-4219-9C11-68A2073C16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723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1FE60-E1B7-4219-9C11-68A2073C161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171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A0026-23C7-2D09-10FE-4F5A5BA4BF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1749A7-3A64-DB32-D8E0-EA03F724AA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77C781-B347-A68E-808F-B984C81BA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6603-274B-4AD1-9C3C-63B0B395DA23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357B4-6B0C-2E31-0551-BEC59AE1C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147118-F3C5-7D16-BC1F-F03DDD62A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DE12E-E90D-4327-B2F2-312D6EE1C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381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71CC0-2679-637B-45B3-9EE78B691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5BB8D-3C55-E6D8-0FCB-626C7A8E7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F4FF34-5BC0-52C4-F4DD-0EC8B2294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6603-274B-4AD1-9C3C-63B0B395DA23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D5835-E607-8C9F-5730-FDCE34E37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78D30-E3B0-BFFD-6D3D-0E2A573AD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DE12E-E90D-4327-B2F2-312D6EE1C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244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B59CA-01E4-B809-9B9A-4442E54F2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94C209-42D4-D5EC-09B2-B16A0EE0C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0E03F-4E35-47CC-4FEA-199563615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6603-274B-4AD1-9C3C-63B0B395DA23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BFF555-B5A2-460A-2F3A-BB024EA81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E3FBD5-0ED4-9010-AD56-8DEBA8558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DE12E-E90D-4327-B2F2-312D6EE1C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541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7A641-8E3C-76C2-F040-B60F2C64F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79493-68EA-EB27-84EF-95485A9F04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ADB93E-A71A-21FA-9AB7-68CA984C97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ADFC82-7099-3BB4-693C-DA64D6834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6603-274B-4AD1-9C3C-63B0B395DA23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949D50-D358-4922-D077-F80CC1074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83311E-6ACF-963A-0527-8F941F757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DE12E-E90D-4327-B2F2-312D6EE1C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717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20D80-0E73-622A-C7D1-8C8CDEB21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1AB51A-B03A-ECDC-4DB0-9B81A3D0EB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798127-CB09-E620-9EB5-FD7193FD80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B6EF78-3BF1-6A18-A827-548EC7FEEA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A3DB1C-EC16-05AE-D3BC-CB8393C68A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7FD1F-3D0D-8676-A6D7-FAF852D62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6603-274B-4AD1-9C3C-63B0B395DA23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FA04A9-5A3E-00E2-0629-EB57627D2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0FA7B5-2ED9-FE58-47D7-4C348A62F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DE12E-E90D-4327-B2F2-312D6EE1C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550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19782-A99D-9F40-93A3-F30669BA1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936E90-5400-6CFD-0222-F22B78793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6603-274B-4AD1-9C3C-63B0B395DA23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AF658F-B7C8-8788-1B79-8AC0B77C3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21A637-37DE-419F-2DE2-9BB94B0C7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DE12E-E90D-4327-B2F2-312D6EE1C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335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BF42F2-BF41-6AD6-CF17-50CBE6CB7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6603-274B-4AD1-9C3C-63B0B395DA23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B71B21-026B-6FCB-9691-A91CAF548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426A03-A12B-5F64-79AD-99A6CB68C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DE12E-E90D-4327-B2F2-312D6EE1C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315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18F18-A9AF-1EDD-E6A2-74FD23BE6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8533B-7E53-F031-B937-D4E4AF50D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8A1999-362E-DE00-66D7-C3CD0ED2EC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61496C-3DA5-4D83-2AB5-28C1D41F7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6603-274B-4AD1-9C3C-63B0B395DA23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D583A6-5BE8-FEDF-8AF9-0739A9B91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103B4-7F49-231A-117C-83854153E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DE12E-E90D-4327-B2F2-312D6EE1C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814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FE7CF-0DCC-9027-CDCA-00866BB16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F6A7F4-D105-A6F5-D580-03B9460A8C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8116F0-8038-D313-5C13-4CE1C7E257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264517-27D7-CDE8-00B3-929999DDF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6603-274B-4AD1-9C3C-63B0B395DA23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FFC586-E79B-E44C-F6BB-0EC40CB5B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8B9AEF-FD86-37F7-5F9F-C58DB4F1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DE12E-E90D-4327-B2F2-312D6EE1C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66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10843-EBCE-AB15-A172-E7FAE41A7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678703-22F3-580D-0696-67FAFF16A9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06479-40DB-F118-F48E-3F29A8B73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6603-274B-4AD1-9C3C-63B0B395DA23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CCC57-9FFE-71CE-7606-67E9492BA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076636-7ADA-C41D-DF6C-63A2DEB56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DE12E-E90D-4327-B2F2-312D6EE1C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020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8E20C6-E77A-CC67-1583-C3FA24DA69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304408-7D63-9553-8D2F-7D76C86FDE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3A443-7301-F7C9-4920-071895F8E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6603-274B-4AD1-9C3C-63B0B395DA23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E75F2-DB47-127F-B958-D3E1D447D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88CCA-3F35-6147-B67A-78DAA4731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DE12E-E90D-4327-B2F2-312D6EE1C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832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14B74B-0D8D-A12C-F2FC-AAD76BBF5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E0484C-128C-3CF8-7939-5819F450A1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EEF5F3-1F4E-C97C-3F68-B03F7F2F60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346603-274B-4AD1-9C3C-63B0B395DA23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203D9-9843-5621-EC40-564B588193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0B157-CE9F-B28D-268B-DB3A48A8B4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EDE12E-E90D-4327-B2F2-312D6EE1C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emotiv.gitbook.io/epoc-x-user-manual/introduction/introduction-to-epoc-x/coverage" TargetMode="External"/><Relationship Id="rId7" Type="http://schemas.openxmlformats.org/officeDocument/2006/relationships/hyperlink" Target="https://www.pnas.org/doi/epdf/10.1073/pnas.79.8.2554" TargetMode="External"/><Relationship Id="rId2" Type="http://schemas.openxmlformats.org/officeDocument/2006/relationships/hyperlink" Target="https://www.emotiv.com/epoc-x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kaggle.com/datasets/madyanomar/eeg-data-distance-learning-environment/data" TargetMode="External"/><Relationship Id="rId5" Type="http://schemas.openxmlformats.org/officeDocument/2006/relationships/hyperlink" Target="https://arxiv.org/pdf/2008.02217v3" TargetMode="External"/><Relationship Id="rId4" Type="http://schemas.openxmlformats.org/officeDocument/2006/relationships/hyperlink" Target="https://emotiv.gitbook.io/epoc-x-user-manual/introduction/technical-specification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B9237-3DC4-0F2B-B476-4EED499EE5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Hopfield Neural Networks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DEAC3D-A39F-FCE2-700B-D3C714C773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440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8DC41-E25A-CDF4-9D6B-8D756C6A9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4ACBA73-BF2F-1E1F-1D02-A0199915CD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6383" y="1450348"/>
            <a:ext cx="10690698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EEG &amp; Student Comprehension Study</a:t>
            </a:r>
            <a:r>
              <a:rPr lang="en-US" altLang="en-US" sz="1800" b="1" dirty="0"/>
              <a:t>: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Conducted during Covid-19 lockdown to explore whether brain activity can detect student understanding of online lectures.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Participants: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Middle school students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/>
              <a:t>Hi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gh school students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Undergraduate students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Method:</a:t>
            </a:r>
            <a:endParaRPr lang="en-US" altLang="en-US" sz="1800" b="1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Preassessed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students' knowledge base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Selected videos each student would and wouldn't understand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Recorded EEG/brain wave data during viewing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Labelled comprehension: 1 = Understood, 0 = Did not understand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 Collected:</a:t>
            </a:r>
            <a:endParaRPr lang="en-US" altLang="en-US" sz="1800" b="1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EEG recordings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subject details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video details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Goal: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Predict student comprehension from brain activity</a:t>
            </a:r>
          </a:p>
        </p:txBody>
      </p:sp>
    </p:spTree>
    <p:extLst>
      <p:ext uri="{BB962C8B-B14F-4D97-AF65-F5344CB8AC3E}">
        <p14:creationId xmlns:p14="http://schemas.microsoft.com/office/powerpoint/2010/main" val="3088294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4EA65-55CC-B922-5D7F-2958938CE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Research Question: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A7EC0-649F-19B9-17A9-AA8DF51655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Can we classify/label the </a:t>
            </a:r>
            <a:r>
              <a:rPr lang="en-US" sz="1800" i="1" dirty="0" err="1"/>
              <a:t>subject_understood</a:t>
            </a:r>
            <a:r>
              <a:rPr lang="en-US" sz="1800" dirty="0"/>
              <a:t> flag using Hopfield Neural Networks as outlined in</a:t>
            </a:r>
            <a:r>
              <a:rPr lang="en-US" altLang="en-US" sz="1800" dirty="0"/>
              <a:t> (Ramsauer et al., 2021) </a:t>
            </a:r>
          </a:p>
          <a:p>
            <a:r>
              <a:rPr lang="en-US" sz="1800" dirty="0"/>
              <a:t>For the purposes of this neural data science project we will mainly concern ourselves with the </a:t>
            </a:r>
            <a:r>
              <a:rPr lang="en-US" sz="1800" i="1" dirty="0"/>
              <a:t>EEG_data.csv </a:t>
            </a:r>
            <a:r>
              <a:rPr lang="en-US" sz="1800" dirty="0"/>
              <a:t>dataset</a:t>
            </a:r>
          </a:p>
        </p:txBody>
      </p:sp>
    </p:spTree>
    <p:extLst>
      <p:ext uri="{BB962C8B-B14F-4D97-AF65-F5344CB8AC3E}">
        <p14:creationId xmlns:p14="http://schemas.microsoft.com/office/powerpoint/2010/main" val="167837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9474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5AACE-9A8E-FEA5-E4E1-B145DEF29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Hopfield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0D118-E393-F831-B7D3-991682482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Technically this is outside of the 10 year time window for papers</a:t>
            </a:r>
          </a:p>
          <a:p>
            <a:r>
              <a:rPr lang="en-US" sz="1800" dirty="0"/>
              <a:t>Modeled neural networks as physical systems with an energy function. Neurons are binary (on/off); the network evolves to minimize energy, settling into stored "memories“. </a:t>
            </a:r>
          </a:p>
          <a:p>
            <a:r>
              <a:rPr lang="en-US" sz="1800" b="1" dirty="0"/>
              <a:t>Associative memory</a:t>
            </a:r>
            <a:r>
              <a:rPr lang="en-US" sz="1800" dirty="0"/>
              <a:t>: recover a full pattern from partial/noisy input</a:t>
            </a:r>
          </a:p>
          <a:p>
            <a:r>
              <a:rPr lang="en-US" sz="1800" b="1" dirty="0"/>
              <a:t>Hebbian learning</a:t>
            </a:r>
            <a:r>
              <a:rPr lang="en-US" sz="1800" dirty="0"/>
              <a:t>: neurons that fire together, wire together</a:t>
            </a:r>
          </a:p>
          <a:p>
            <a:r>
              <a:rPr lang="en-US" sz="1800" b="1" dirty="0"/>
              <a:t>Attractors</a:t>
            </a:r>
            <a:r>
              <a:rPr lang="en-US" sz="1800" dirty="0"/>
              <a:t>: the patterns the network is attempting to retrieve are energy valleys the network "falls into“ </a:t>
            </a:r>
          </a:p>
          <a:p>
            <a:r>
              <a:rPr lang="en-US" sz="1800" dirty="0"/>
              <a:t>Bridged neuroscience, physics &amp; CS  helped revive the neural network field. Foundation for modern attention mechanisms. Hopfield won the Nobel Prize in Physics (2024).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357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B2DAC-53DE-3CD4-FBAD-920D901F5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Modern Hopfield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CFCC4-BA2D-BD90-3055-CAF6E2353C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actual paper we are basing the method on improves on John </a:t>
            </a:r>
            <a:r>
              <a:rPr lang="en-US" dirty="0" err="1"/>
              <a:t>Hopfields</a:t>
            </a:r>
            <a:r>
              <a:rPr lang="en-US" dirty="0"/>
              <a:t> methods by using real value vectors instead of binary neurons.</a:t>
            </a:r>
          </a:p>
          <a:p>
            <a:r>
              <a:rPr lang="en-US" dirty="0"/>
              <a:t>The update rule </a:t>
            </a:r>
          </a:p>
        </p:txBody>
      </p:sp>
    </p:spTree>
    <p:extLst>
      <p:ext uri="{BB962C8B-B14F-4D97-AF65-F5344CB8AC3E}">
        <p14:creationId xmlns:p14="http://schemas.microsoft.com/office/powerpoint/2010/main" val="543731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AFDAC-EC45-C753-52CA-03FAF62D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849F4-EA4B-55B6-FD6B-6C4F95178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607"/>
            <a:ext cx="10515600" cy="2162715"/>
          </a:xfrm>
        </p:spPr>
        <p:txBody>
          <a:bodyPr/>
          <a:lstStyle/>
          <a:p>
            <a:r>
              <a:rPr lang="en-US" dirty="0"/>
              <a:t>The EEG recording was done using a </a:t>
            </a:r>
            <a:r>
              <a:rPr lang="en-US" dirty="0" err="1"/>
              <a:t>Emotiv</a:t>
            </a:r>
            <a:r>
              <a:rPr lang="en-US" dirty="0"/>
              <a:t> Epoch IV</a:t>
            </a:r>
          </a:p>
          <a:p>
            <a:pPr lvl="1"/>
            <a:r>
              <a:rPr lang="en-US" dirty="0"/>
              <a:t>14 channels: AF3, F7, F3, FC5, T7, P7, O1, O2, P8, T8, FC6, F4, F8, AF4</a:t>
            </a:r>
          </a:p>
          <a:p>
            <a:pPr lvl="1"/>
            <a:r>
              <a:rPr lang="en-US" dirty="0"/>
              <a:t>Sampling Rate: 128 SPS / 256 SPS (2048 Hz internal)</a:t>
            </a:r>
          </a:p>
          <a:p>
            <a:pPr lvl="1"/>
            <a:r>
              <a:rPr lang="en-US" dirty="0"/>
              <a:t>Bandwidth: 0.2 - 45Hz digital notch filters at 50Hz and 60Hz</a:t>
            </a:r>
          </a:p>
          <a:p>
            <a:pPr lvl="1"/>
            <a:r>
              <a:rPr lang="en-US" dirty="0"/>
              <a:t>EEG Resolution: 14 bits 1 LSB = 0.51μV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F49BFF-3020-9AE9-0A91-626B78752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3706238"/>
            <a:ext cx="4597726" cy="290841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F03949-11D5-D491-E400-F51B1C167A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2478" y="3706236"/>
            <a:ext cx="3194058" cy="290841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41012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6B1D9-C996-F259-F2E7-9998886C6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755204" cy="1325563"/>
          </a:xfrm>
        </p:spPr>
        <p:txBody>
          <a:bodyPr/>
          <a:lstStyle/>
          <a:p>
            <a:r>
              <a:rPr lang="en-US" dirty="0"/>
              <a:t>Results (Graphs)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2A48163-1F40-DFD0-43BB-25ED8E682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408" y="1637705"/>
            <a:ext cx="5022787" cy="290164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7F86607-E0E9-9F4D-DEB7-621EF179DC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8598" y="1637705"/>
            <a:ext cx="4208009" cy="289001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65155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F3F4A-A448-9D4B-D00F-C2C1C655D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220183" cy="1325563"/>
          </a:xfrm>
        </p:spPr>
        <p:txBody>
          <a:bodyPr/>
          <a:lstStyle/>
          <a:p>
            <a:r>
              <a:rPr lang="en-US" dirty="0"/>
              <a:t>Results (Graph)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5C25FE-7B92-4BCB-426A-F4623E0F2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217" y="1478604"/>
            <a:ext cx="5385691" cy="28897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254DEC-1C17-6B34-3871-1C7B771CE8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3619" y="277577"/>
            <a:ext cx="4958752" cy="42898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37D515-6465-8EB0-EAC2-F6BD2FEE12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5028" y="4747098"/>
            <a:ext cx="1892892" cy="18333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5D0E3C1-1CF2-2E12-209B-0FB8F437DC47}"/>
              </a:ext>
            </a:extLst>
          </p:cNvPr>
          <p:cNvSpPr txBox="1"/>
          <p:nvPr/>
        </p:nvSpPr>
        <p:spPr>
          <a:xfrm>
            <a:off x="301557" y="4567474"/>
            <a:ext cx="53856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Interpretation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AF039C-A793-EB2D-0DA9-284E3AA038CC}"/>
              </a:ext>
            </a:extLst>
          </p:cNvPr>
          <p:cNvSpPr txBox="1"/>
          <p:nvPr/>
        </p:nvSpPr>
        <p:spPr>
          <a:xfrm>
            <a:off x="6955277" y="5213805"/>
            <a:ext cx="15013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Interpretation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161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D17FE-85FC-F355-78B6-DC83C5C6C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E2713-C5A6-6B9E-810E-50B81DB57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740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F1635-E58F-3A00-D4CA-269435678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7ECBA-B2DC-C1FB-C4C7-2B24B1E7A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0511"/>
            <a:ext cx="10515600" cy="5252936"/>
          </a:xfrm>
        </p:spPr>
        <p:txBody>
          <a:bodyPr>
            <a:normAutofit/>
          </a:bodyPr>
          <a:lstStyle/>
          <a:p>
            <a:r>
              <a:rPr lang="en-US" sz="1400" dirty="0" err="1">
                <a:hlinkClick r:id="rId2"/>
              </a:rPr>
              <a:t>Emotiv</a:t>
            </a:r>
            <a:r>
              <a:rPr lang="en-US" sz="1400" dirty="0">
                <a:hlinkClick r:id="rId2"/>
              </a:rPr>
              <a:t> </a:t>
            </a:r>
            <a:r>
              <a:rPr lang="en-US" sz="1400" dirty="0" err="1">
                <a:hlinkClick r:id="rId2"/>
              </a:rPr>
              <a:t>Epoc</a:t>
            </a:r>
            <a:r>
              <a:rPr lang="en-US" sz="1400" dirty="0">
                <a:hlinkClick r:id="rId2"/>
              </a:rPr>
              <a:t> X - 14-Channel Research-Grade EEG Headset Device</a:t>
            </a:r>
            <a:endParaRPr lang="en-US" sz="1400" dirty="0"/>
          </a:p>
          <a:p>
            <a:r>
              <a:rPr lang="en-US" sz="1400" dirty="0">
                <a:hlinkClick r:id="rId3"/>
              </a:rPr>
              <a:t>Coverage | EPOC X User Manual</a:t>
            </a:r>
            <a:endParaRPr lang="en-US" sz="1400" dirty="0"/>
          </a:p>
          <a:p>
            <a:r>
              <a:rPr lang="en-US" sz="1400" dirty="0">
                <a:hlinkClick r:id="rId4"/>
              </a:rPr>
              <a:t>Technical specifications | EPOC X User Manual</a:t>
            </a:r>
            <a:endParaRPr lang="en-US" sz="1400" dirty="0"/>
          </a:p>
          <a:p>
            <a:r>
              <a:rPr lang="en-US" sz="1400" dirty="0">
                <a:hlinkClick r:id="rId5"/>
              </a:rPr>
              <a:t>Hopfield Networks is All You Need</a:t>
            </a:r>
            <a:endParaRPr lang="en-US" sz="1400" dirty="0"/>
          </a:p>
          <a:p>
            <a:r>
              <a:rPr lang="en-US" sz="1400" dirty="0">
                <a:hlinkClick r:id="rId6"/>
              </a:rPr>
              <a:t>EEG data / Distance learning</a:t>
            </a:r>
            <a:endParaRPr lang="en-US" sz="1400" dirty="0"/>
          </a:p>
          <a:p>
            <a:r>
              <a:rPr lang="en-US" sz="1400" dirty="0">
                <a:hlinkClick r:id="rId7"/>
              </a:rPr>
              <a:t>Neural networks and physical systems with emergent collective computational abilities.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144044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1558</TotalTime>
  <Words>424</Words>
  <Application>Microsoft Office PowerPoint</Application>
  <PresentationFormat>Widescreen</PresentationFormat>
  <Paragraphs>53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Hopfield Neural Networks </vt:lpstr>
      <vt:lpstr>Dataset</vt:lpstr>
      <vt:lpstr>Research Question:</vt:lpstr>
      <vt:lpstr>PowerPoint Presentation</vt:lpstr>
      <vt:lpstr>What is a Hopfield Network</vt:lpstr>
      <vt:lpstr>What is a Modern Hopfield Network</vt:lpstr>
      <vt:lpstr>Hardware</vt:lpstr>
      <vt:lpstr>Results (Graphs)</vt:lpstr>
      <vt:lpstr>Results (Graph)</vt:lpstr>
      <vt:lpstr>Conclusion </vt:lpstr>
      <vt:lpstr>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Arnold Bennedict</dc:creator>
  <cp:lastModifiedBy>Arnold Bennedict</cp:lastModifiedBy>
  <cp:revision>1</cp:revision>
  <dcterms:created xsi:type="dcterms:W3CDTF">2026-06-03T21:03:41Z</dcterms:created>
  <dcterms:modified xsi:type="dcterms:W3CDTF">2026-06-04T23:01:47Z</dcterms:modified>
</cp:coreProperties>
</file>